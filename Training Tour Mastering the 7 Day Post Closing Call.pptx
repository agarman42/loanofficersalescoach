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7" r:id="rId5"/>
    <p:sldId id="334" r:id="rId6"/>
    <p:sldId id="335" r:id="rId7"/>
    <p:sldId id="336" r:id="rId8"/>
    <p:sldId id="337" r:id="rId9"/>
    <p:sldId id="338" r:id="rId10"/>
    <p:sldId id="339" r:id="rId11"/>
    <p:sldId id="346" r:id="rId12"/>
    <p:sldId id="353" r:id="rId13"/>
    <p:sldId id="349" r:id="rId14"/>
    <p:sldId id="350" r:id="rId15"/>
    <p:sldId id="351" r:id="rId16"/>
    <p:sldId id="355" r:id="rId17"/>
    <p:sldId id="352" r:id="rId18"/>
    <p:sldId id="354" r:id="rId19"/>
    <p:sldId id="356" r:id="rId20"/>
    <p:sldId id="357" r:id="rId21"/>
    <p:sldId id="358" r:id="rId22"/>
    <p:sldId id="359" r:id="rId23"/>
    <p:sldId id="348" r:id="rId24"/>
    <p:sldId id="360" r:id="rId25"/>
    <p:sldId id="341" r:id="rId26"/>
    <p:sldId id="343" r:id="rId27"/>
    <p:sldId id="344" r:id="rId28"/>
  </p:sldIdLst>
  <p:sldSz cx="12192000" cy="6858000"/>
  <p:notesSz cx="9296400" cy="14782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F42"/>
    <a:srgbClr val="13AF8A"/>
    <a:srgbClr val="F38E36"/>
    <a:srgbClr val="026D58"/>
    <a:srgbClr val="142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4B26A-F5F4-4C10-B749-D8D49396D871}" v="57" dt="2026-02-12T15:49:03.980"/>
    <p1510:client id="{C1E53D24-5E2B-439B-9355-C69B75295843}" v="4" dt="2026-02-11T21:52:05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Garman" userId="ace5a31d-0a81-4af7-8841-5962fab29be7" providerId="ADAL" clId="{C250F9C0-F438-4F11-8E02-E3167603C4CA}"/>
    <pc:docChg chg="modSld">
      <pc:chgData name="Adam Garman" userId="ace5a31d-0a81-4af7-8841-5962fab29be7" providerId="ADAL" clId="{C250F9C0-F438-4F11-8E02-E3167603C4CA}" dt="2026-02-11T21:52:05.663" v="10" actId="20577"/>
      <pc:docMkLst>
        <pc:docMk/>
      </pc:docMkLst>
      <pc:sldChg chg="modSp mod">
        <pc:chgData name="Adam Garman" userId="ace5a31d-0a81-4af7-8841-5962fab29be7" providerId="ADAL" clId="{C250F9C0-F438-4F11-8E02-E3167603C4CA}" dt="2026-02-11T21:52:05.663" v="10" actId="20577"/>
        <pc:sldMkLst>
          <pc:docMk/>
          <pc:sldMk cId="3950814538" sldId="341"/>
        </pc:sldMkLst>
        <pc:spChg chg="mod">
          <ac:chgData name="Adam Garman" userId="ace5a31d-0a81-4af7-8841-5962fab29be7" providerId="ADAL" clId="{C250F9C0-F438-4F11-8E02-E3167603C4CA}" dt="2026-02-11T21:52:05.663" v="10" actId="20577"/>
          <ac:spMkLst>
            <pc:docMk/>
            <pc:sldMk cId="3950814538" sldId="341"/>
            <ac:spMk id="4" creationId="{66849637-EA49-D663-D2B8-745EF607CC0E}"/>
          </ac:spMkLst>
        </pc:spChg>
        <pc:spChg chg="mod">
          <ac:chgData name="Adam Garman" userId="ace5a31d-0a81-4af7-8841-5962fab29be7" providerId="ADAL" clId="{C250F9C0-F438-4F11-8E02-E3167603C4CA}" dt="2026-02-11T21:51:56.170" v="8" actId="1076"/>
          <ac:spMkLst>
            <pc:docMk/>
            <pc:sldMk cId="3950814538" sldId="341"/>
            <ac:spMk id="6" creationId="{607B3FED-89D6-373B-C82E-E875CE2E0334}"/>
          </ac:spMkLst>
        </pc:spChg>
      </pc:sldChg>
      <pc:sldChg chg="modSp mod">
        <pc:chgData name="Adam Garman" userId="ace5a31d-0a81-4af7-8841-5962fab29be7" providerId="ADAL" clId="{C250F9C0-F438-4F11-8E02-E3167603C4CA}" dt="2026-02-11T21:51:07.206" v="4" actId="20577"/>
        <pc:sldMkLst>
          <pc:docMk/>
          <pc:sldMk cId="840021591" sldId="348"/>
        </pc:sldMkLst>
        <pc:spChg chg="mod">
          <ac:chgData name="Adam Garman" userId="ace5a31d-0a81-4af7-8841-5962fab29be7" providerId="ADAL" clId="{C250F9C0-F438-4F11-8E02-E3167603C4CA}" dt="2026-02-11T21:51:07.206" v="4" actId="20577"/>
          <ac:spMkLst>
            <pc:docMk/>
            <pc:sldMk cId="840021591" sldId="348"/>
            <ac:spMk id="4" creationId="{4FA59888-A63B-F605-1A0A-FFD1BAD6CFB3}"/>
          </ac:spMkLst>
        </pc:spChg>
      </pc:sldChg>
      <pc:sldChg chg="modSp mod">
        <pc:chgData name="Adam Garman" userId="ace5a31d-0a81-4af7-8841-5962fab29be7" providerId="ADAL" clId="{C250F9C0-F438-4F11-8E02-E3167603C4CA}" dt="2026-02-11T21:51:46.099" v="7" actId="207"/>
        <pc:sldMkLst>
          <pc:docMk/>
          <pc:sldMk cId="2178621416" sldId="360"/>
        </pc:sldMkLst>
        <pc:spChg chg="mod">
          <ac:chgData name="Adam Garman" userId="ace5a31d-0a81-4af7-8841-5962fab29be7" providerId="ADAL" clId="{C250F9C0-F438-4F11-8E02-E3167603C4CA}" dt="2026-02-11T21:51:46.099" v="7" actId="207"/>
          <ac:spMkLst>
            <pc:docMk/>
            <pc:sldMk cId="2178621416" sldId="360"/>
            <ac:spMk id="7" creationId="{A4ABD5BC-22EB-3C7A-7028-4D8892B24394}"/>
          </ac:spMkLst>
        </pc:spChg>
      </pc:sldChg>
    </pc:docChg>
  </pc:docChgLst>
  <pc:docChgLst>
    <pc:chgData name="Adam Garman" userId="ace5a31d-0a81-4af7-8841-5962fab29be7" providerId="ADAL" clId="{8FACFAEB-B17D-44BF-BEC3-5E00BB03E1AF}"/>
    <pc:docChg chg="modSld">
      <pc:chgData name="Adam Garman" userId="ace5a31d-0a81-4af7-8841-5962fab29be7" providerId="ADAL" clId="{8FACFAEB-B17D-44BF-BEC3-5E00BB03E1AF}" dt="2026-02-12T15:49:19.566" v="60" actId="1076"/>
      <pc:docMkLst>
        <pc:docMk/>
      </pc:docMkLst>
      <pc:sldChg chg="modSp mod modAnim">
        <pc:chgData name="Adam Garman" userId="ace5a31d-0a81-4af7-8841-5962fab29be7" providerId="ADAL" clId="{8FACFAEB-B17D-44BF-BEC3-5E00BB03E1AF}" dt="2026-02-12T15:49:19.566" v="60" actId="1076"/>
        <pc:sldMkLst>
          <pc:docMk/>
          <pc:sldMk cId="2805729203" sldId="353"/>
        </pc:sldMkLst>
        <pc:spChg chg="mod">
          <ac:chgData name="Adam Garman" userId="ace5a31d-0a81-4af7-8841-5962fab29be7" providerId="ADAL" clId="{8FACFAEB-B17D-44BF-BEC3-5E00BB03E1AF}" dt="2026-02-12T15:49:19.566" v="60" actId="1076"/>
          <ac:spMkLst>
            <pc:docMk/>
            <pc:sldMk cId="2805729203" sldId="353"/>
            <ac:spMk id="4" creationId="{797A952E-4897-C539-56E6-785E4AD2FEAC}"/>
          </ac:spMkLst>
        </pc:spChg>
        <pc:spChg chg="mod">
          <ac:chgData name="Adam Garman" userId="ace5a31d-0a81-4af7-8841-5962fab29be7" providerId="ADAL" clId="{8FACFAEB-B17D-44BF-BEC3-5E00BB03E1AF}" dt="2026-02-12T15:49:16.914" v="59" actId="1076"/>
          <ac:spMkLst>
            <pc:docMk/>
            <pc:sldMk cId="2805729203" sldId="353"/>
            <ac:spMk id="7" creationId="{9ECFADE3-7096-9141-E2BB-2A27E1101B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41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741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21746-576A-483F-B97D-5FD99F388C3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3" y="1847850"/>
            <a:ext cx="8867775" cy="498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7113588"/>
            <a:ext cx="7435850" cy="5821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041438"/>
            <a:ext cx="4029075" cy="741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14041438"/>
            <a:ext cx="4029075" cy="741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E3FCD-970D-4252-AA2D-4CFFA466D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4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08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borrower journey has exactly 5 sales opportunities. Each of these points present an opportunity for you to build rapport and position yourself as their trusted advisor. Miss #4 and you leave massive money and referrals on the table.”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7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1 hour every Thursday morning in green. </a:t>
            </a:r>
            <a:r>
              <a:rPr lang="en-US" b="1" dirty="0"/>
              <a:t>NEVER</a:t>
            </a:r>
            <a:r>
              <a:rPr lang="en-US" dirty="0"/>
              <a:t> move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92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3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45D9-EC8B-1DE3-9A18-C4C42560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F2D69-8190-9464-73F1-AB9D011F6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E42B5-F337-0002-8048-817364ED2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E2503-B894-2BE8-52DE-D091775D1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07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8118-EBAE-D930-D1F6-43A4A7D2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31FC0-2E4A-EE54-7F9F-0B56EC6B9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8DE44-E7CA-811C-228E-530488082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466F1-2F85-F17E-E903-80540EF09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23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0D8D-F1F5-34B0-A8C9-12CEE5D5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9562-0596-06DA-68E0-D376FFCB3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54296-E713-DA4D-34B0-EBBABF18B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0545D-E20D-CFE4-5E1B-56612E6AC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95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4DF5-104F-6564-3DE4-A660131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02F59-8E67-E6FB-2590-E3F47FB0F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192E8-A681-4C11-BA47-9F279ECC9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B9B27-3871-712B-730A-D3B954C68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6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6691-E456-664A-48E4-3EAD7279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BB99F-362E-1FCF-323C-D59873144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5FAC4-488A-8016-2FF9-52764B903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81B65-BFDE-FC9E-D789-81BA1E2AA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11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E82E-81F7-6C40-FC83-8BA40AF2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CC357-1C75-442A-3983-3CF4F1F3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A735C-EE19-2121-4FCD-D4FB76FB7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170A7-44C6-FECD-DEB4-AF14821BA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15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B8C4-C156-4823-5AD1-13A71AA4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2505A-90E0-AC04-5CC9-E45C643D6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20B01-D0C8-A925-CE87-79F2553C8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50AFF-D49E-9AD2-312A-E4D8CDFAF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57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9389-64BF-5516-BC42-CB7B6539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70045-2035-26DB-950F-6F58737CB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7192D-AF16-3D66-7E7B-7DDF625EC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CF25-3B4E-B7B2-058F-5EB7D883E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2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DE0A-E12D-AB2F-039B-CB07C0A7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F473E-06D5-52DF-6733-EB53C4CFB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BCE65-B80D-8431-1022-B0413ED4D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EC5F3-DEE4-34C4-118E-E4971470B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45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850E-7382-CF21-E310-228483BA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4A85A-9EF5-2905-2DDB-3F690DB51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8B0C1-5B9D-2AFF-C880-E5B7D2FEC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DF4E3-0AAC-B8FC-05A1-EE5FD5D96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2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7CB4-0E99-1706-3413-88835BCE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EECB9-D0F3-5862-44E8-CE3464202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323A9-5F9E-6C2C-9AAC-C76C78402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3D43-F53E-2AEF-3D87-05660161C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2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1C10-BEBB-916D-A002-EA6E9C11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EE118-A873-3F79-8470-AE435FDFA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D73F5-AD07-1B91-ED6F-A75E0C6C7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C7A8-D22C-3EF7-640F-72C72EEA4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9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55328-F301-BCAB-C290-9186B80B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39552-684A-B642-8059-6E1B82183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5937C-13DA-5502-664F-EB5A1101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call is the difference between transactional LO and trusted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847A0-85DE-1878-A89C-1DC05212B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E3FCD-970D-4252-AA2D-4CFFA466D7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19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3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0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6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3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3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9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9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3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1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9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8A467-C56F-4E92-A525-8DF517E2765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CA1DE-C5FB-402F-8618-4532C9A55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8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C584F32E-8C16-90EC-BDEA-A0CB4B7DB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058955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Sales Techniques</a:t>
            </a:r>
          </a:p>
          <a:p>
            <a:pPr algn="ctr"/>
            <a:endParaRPr lang="en-US" sz="5400" b="1">
              <a:solidFill>
                <a:srgbClr val="F38E36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400" b="1">
                <a:solidFill>
                  <a:srgbClr val="142F42"/>
                </a:solidFill>
                <a:latin typeface="Brush Script MT" panose="03060802040406070304" pitchFamily="66" charset="0"/>
                <a:cs typeface="Arial" panose="020B0604020202020204" pitchFamily="34" charset="0"/>
              </a:rPr>
              <a:t>Presented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12725-E73A-690B-1247-74571367D0FB}"/>
              </a:ext>
            </a:extLst>
          </p:cNvPr>
          <p:cNvSpPr txBox="1"/>
          <p:nvPr/>
        </p:nvSpPr>
        <p:spPr>
          <a:xfrm>
            <a:off x="0" y="428998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>
                <a:solidFill>
                  <a:srgbClr val="13AF8A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Adam Garman</a:t>
            </a:r>
          </a:p>
        </p:txBody>
      </p:sp>
    </p:spTree>
    <p:extLst>
      <p:ext uri="{BB962C8B-B14F-4D97-AF65-F5344CB8AC3E}">
        <p14:creationId xmlns:p14="http://schemas.microsoft.com/office/powerpoint/2010/main" val="309108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2E7E-C1EF-066E-65D6-A9CEDD61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41E9FA69-C2F2-4648-4DD0-AE0E8FCB3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998DAE-43FC-873B-EFF8-715F3D2A97B5}"/>
              </a:ext>
            </a:extLst>
          </p:cNvPr>
          <p:cNvSpPr txBox="1"/>
          <p:nvPr/>
        </p:nvSpPr>
        <p:spPr>
          <a:xfrm>
            <a:off x="0" y="1206120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132F42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Mastering 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A25D9-CC2E-DC09-86AE-3D8DE2C3BC87}"/>
              </a:ext>
            </a:extLst>
          </p:cNvPr>
          <p:cNvSpPr txBox="1"/>
          <p:nvPr/>
        </p:nvSpPr>
        <p:spPr>
          <a:xfrm>
            <a:off x="64291" y="3554994"/>
            <a:ext cx="1219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3AF8A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Turning Customers into Loyal, Referring Clients</a:t>
            </a:r>
          </a:p>
        </p:txBody>
      </p:sp>
    </p:spTree>
    <p:extLst>
      <p:ext uri="{BB962C8B-B14F-4D97-AF65-F5344CB8AC3E}">
        <p14:creationId xmlns:p14="http://schemas.microsoft.com/office/powerpoint/2010/main" val="203356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964A-E0A7-431E-A007-D0075549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B9D629DF-7799-D1C0-8856-FC37273BF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EA1D819-A4BE-152F-3B99-6E008A425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631" y="72244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9BF05A-C39A-80D2-52F7-451AA0727B29}"/>
              </a:ext>
            </a:extLst>
          </p:cNvPr>
          <p:cNvSpPr txBox="1">
            <a:spLocks/>
          </p:cNvSpPr>
          <p:nvPr/>
        </p:nvSpPr>
        <p:spPr>
          <a:xfrm>
            <a:off x="1049079" y="1865446"/>
            <a:ext cx="10025794" cy="46177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Amir Syed’s Core Sales Philosophy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The 5 Major Points of Sale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Why Post-Closing Matters Most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The 7-Day Post-Closing Call: Framework &amp; Script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The Real Benefits (Why This Call Changes Your Business)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32F42"/>
                </a:solidFill>
                <a:effectLst/>
                <a:uLnTx/>
                <a:uFillTx/>
                <a:latin typeface="Arial Black" panose="020B0A04020102020204" pitchFamily="34" charset="0"/>
              </a:rPr>
              <a:t>Commitment and Q &amp; A</a:t>
            </a:r>
          </a:p>
        </p:txBody>
      </p:sp>
    </p:spTree>
    <p:extLst>
      <p:ext uri="{BB962C8B-B14F-4D97-AF65-F5344CB8AC3E}">
        <p14:creationId xmlns:p14="http://schemas.microsoft.com/office/powerpoint/2010/main" val="425476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76FD-B531-D512-D623-044A80C9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8D87F42F-0DD6-C167-2115-CD9EB311D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623C1-2AC0-0E8A-22EF-BB3FA15493D6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Amir’s Core Sales Philosophy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8AFE6-E85B-46E5-9E4E-C2D94E7A17D4}"/>
              </a:ext>
            </a:extLst>
          </p:cNvPr>
          <p:cNvSpPr txBox="1"/>
          <p:nvPr/>
        </p:nvSpPr>
        <p:spPr>
          <a:xfrm>
            <a:off x="618744" y="1849689"/>
            <a:ext cx="113964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3AF8A"/>
                </a:solidFill>
                <a:latin typeface="Arial Black" panose="020B0A04020102020204" pitchFamily="34" charset="0"/>
              </a:rPr>
              <a:t>“PROFESSIONAL SALES IS STRUCTURED SEQUENCING. There is POWER in PROCESS. </a:t>
            </a:r>
            <a:r>
              <a:rPr lang="en-US" sz="2800" dirty="0" err="1">
                <a:solidFill>
                  <a:srgbClr val="13AF8A"/>
                </a:solidFill>
                <a:latin typeface="Arial Black" panose="020B0A04020102020204" pitchFamily="34" charset="0"/>
              </a:rPr>
              <a:t>PROCESS</a:t>
            </a:r>
            <a:r>
              <a:rPr lang="en-US" sz="2800" dirty="0">
                <a:solidFill>
                  <a:srgbClr val="13AF8A"/>
                </a:solidFill>
                <a:latin typeface="Arial Black" panose="020B0A04020102020204" pitchFamily="34" charset="0"/>
              </a:rPr>
              <a:t> &gt; Personality”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8F2A0-00FF-E53C-F9D4-C370B9CFC4FE}"/>
              </a:ext>
            </a:extLst>
          </p:cNvPr>
          <p:cNvSpPr txBox="1"/>
          <p:nvPr/>
        </p:nvSpPr>
        <p:spPr>
          <a:xfrm>
            <a:off x="969264" y="3014802"/>
            <a:ext cx="914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“Each stage in the journey demands a unique approach and carefully crafted language. With intentional practice and persistence, you can master every phase and transform it into a seamless, well-orchestrated process.” 							</a:t>
            </a:r>
          </a:p>
          <a:p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						– Amir Syed</a:t>
            </a:r>
          </a:p>
        </p:txBody>
      </p:sp>
    </p:spTree>
    <p:extLst>
      <p:ext uri="{BB962C8B-B14F-4D97-AF65-F5344CB8AC3E}">
        <p14:creationId xmlns:p14="http://schemas.microsoft.com/office/powerpoint/2010/main" val="228040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9BE6-113E-1A31-79E1-5B583079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C31DC234-D2BD-FF9A-4E1C-C2E9DDAA6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55EBFA-BE63-0542-A9A2-E29EC5B0D79E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5 Major Points of Sale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52131-7DC7-22DA-E876-8FA7C5AAD0B6}"/>
              </a:ext>
            </a:extLst>
          </p:cNvPr>
          <p:cNvSpPr txBox="1"/>
          <p:nvPr/>
        </p:nvSpPr>
        <p:spPr>
          <a:xfrm>
            <a:off x="1088136" y="2527067"/>
            <a:ext cx="10861053" cy="253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32F42"/>
                </a:solidFill>
                <a:latin typeface="Arial Black" panose="020B0A04020102020204" pitchFamily="34" charset="0"/>
              </a:rPr>
              <a:t>1. Lead-to-Appointment (LTA)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32F42"/>
                </a:solidFill>
                <a:latin typeface="Arial Black" panose="020B0A04020102020204" pitchFamily="34" charset="0"/>
              </a:rPr>
              <a:t>2. Initial Loan Consultation (ILC)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32F42"/>
                </a:solidFill>
                <a:latin typeface="Arial Black" panose="020B0A04020102020204" pitchFamily="34" charset="0"/>
              </a:rPr>
              <a:t>3. Rate Lock Consultation (RLC)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132F42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4. Post Closing Consultation (PCC) ← TODAY’S FOCUS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32F42"/>
                </a:solidFill>
                <a:latin typeface="Arial Black" panose="020B0A04020102020204" pitchFamily="34" charset="0"/>
              </a:rPr>
              <a:t>5. Annual Mortgage Consultation (AMC)</a:t>
            </a:r>
          </a:p>
        </p:txBody>
      </p:sp>
    </p:spTree>
    <p:extLst>
      <p:ext uri="{BB962C8B-B14F-4D97-AF65-F5344CB8AC3E}">
        <p14:creationId xmlns:p14="http://schemas.microsoft.com/office/powerpoint/2010/main" val="8491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7EB8-D5CD-70CA-0684-2CB574A2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95D3DA26-8FD0-EEB0-EE9D-D7ADEA9CF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A2C53-E4BA-F75F-57CF-8EDC0088AFD7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Why Post-Closing Matters Most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AC5C0-A255-4A73-49C4-A3459D9F1169}"/>
              </a:ext>
            </a:extLst>
          </p:cNvPr>
          <p:cNvSpPr txBox="1"/>
          <p:nvPr/>
        </p:nvSpPr>
        <p:spPr>
          <a:xfrm>
            <a:off x="1322451" y="1880473"/>
            <a:ext cx="9621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13AF8A"/>
                </a:solidFill>
                <a:latin typeface="Arial Black" panose="020B0A04020102020204" pitchFamily="34" charset="0"/>
              </a:rPr>
              <a:t>Nothing in customer service is worse than not following up with recent clients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029DF-4AD3-C460-F7DA-FFAD76BA071D}"/>
              </a:ext>
            </a:extLst>
          </p:cNvPr>
          <p:cNvSpPr txBox="1"/>
          <p:nvPr/>
        </p:nvSpPr>
        <p:spPr>
          <a:xfrm>
            <a:off x="1597914" y="3035808"/>
            <a:ext cx="9070848" cy="225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Customers feel abandoned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No education → confusion → bad reviews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No sales anchors → refinance elsewhere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Lifetime Value ≈ 5 transactions ($20k+ income)</a:t>
            </a:r>
          </a:p>
        </p:txBody>
      </p:sp>
    </p:spTree>
    <p:extLst>
      <p:ext uri="{BB962C8B-B14F-4D97-AF65-F5344CB8AC3E}">
        <p14:creationId xmlns:p14="http://schemas.microsoft.com/office/powerpoint/2010/main" val="108040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097A-928C-89B6-B5C3-55CCC02E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23F03E1A-3268-1DE2-603D-6F71C129A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DEA3BB-E871-A979-740E-6DD2E8ED605F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AEDCD-87D2-01BC-063D-FCA563FE1CB6}"/>
              </a:ext>
            </a:extLst>
          </p:cNvPr>
          <p:cNvSpPr txBox="1"/>
          <p:nvPr/>
        </p:nvSpPr>
        <p:spPr>
          <a:xfrm>
            <a:off x="2794635" y="1721808"/>
            <a:ext cx="6158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The 777 Jackpot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5105F-AC42-366C-2297-4C961A41DFF7}"/>
              </a:ext>
            </a:extLst>
          </p:cNvPr>
          <p:cNvSpPr txBox="1"/>
          <p:nvPr/>
        </p:nvSpPr>
        <p:spPr>
          <a:xfrm>
            <a:off x="1618869" y="2527495"/>
            <a:ext cx="8954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Thursday “Power Hour: Closed Database”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76DD9-CBAE-3CE7-730F-AD2759B0E8CA}"/>
              </a:ext>
            </a:extLst>
          </p:cNvPr>
          <p:cNvSpPr txBox="1"/>
          <p:nvPr/>
        </p:nvSpPr>
        <p:spPr>
          <a:xfrm>
            <a:off x="1949196" y="2993614"/>
            <a:ext cx="9041892" cy="2610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In this order: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7-day Post-Closing calls (</a:t>
            </a:r>
            <a:r>
              <a:rPr lang="en-US" sz="2800" dirty="0">
                <a:solidFill>
                  <a:srgbClr val="13AF8A"/>
                </a:solidFill>
                <a:latin typeface="Arial Black" panose="020B0A04020102020204" pitchFamily="34" charset="0"/>
              </a:rPr>
              <a:t>today’s focus</a:t>
            </a: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7-day upcoming Loan Anniversary calls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7-day upcoming Birthday calls</a:t>
            </a:r>
          </a:p>
        </p:txBody>
      </p:sp>
    </p:spTree>
    <p:extLst>
      <p:ext uri="{BB962C8B-B14F-4D97-AF65-F5344CB8AC3E}">
        <p14:creationId xmlns:p14="http://schemas.microsoft.com/office/powerpoint/2010/main" val="283878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85D5-67E4-A31C-47A2-874608FF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4C59B8FC-7682-F1B7-9CFD-32E9F7C51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78C1F0-214E-F1DB-445C-1C59B78CD2FD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258E9-7FF2-D748-63A9-8BCF23AAB95F}"/>
              </a:ext>
            </a:extLst>
          </p:cNvPr>
          <p:cNvSpPr txBox="1"/>
          <p:nvPr/>
        </p:nvSpPr>
        <p:spPr>
          <a:xfrm>
            <a:off x="943274" y="1789185"/>
            <a:ext cx="10789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Why to call at this day and time specifically?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ACC5B-60A6-8B2B-44F5-3A5AADDE6E76}"/>
              </a:ext>
            </a:extLst>
          </p:cNvPr>
          <p:cNvSpPr txBox="1"/>
          <p:nvPr/>
        </p:nvSpPr>
        <p:spPr>
          <a:xfrm>
            <a:off x="807720" y="2615694"/>
            <a:ext cx="11384280" cy="2610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Closing fresh → high emotional connection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Borrowers excited but nervous → teaching moment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Thursday morning = higher pickup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“Spontaneous” → personal &amp; caring</a:t>
            </a:r>
          </a:p>
        </p:txBody>
      </p:sp>
    </p:spTree>
    <p:extLst>
      <p:ext uri="{BB962C8B-B14F-4D97-AF65-F5344CB8AC3E}">
        <p14:creationId xmlns:p14="http://schemas.microsoft.com/office/powerpoint/2010/main" val="37821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A955-5CD1-1951-F376-BF47CF6C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83CE658A-FEBC-B074-CAA1-5DBD6D25F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58DD8-B5C8-D36A-24E6-B407BEEE0962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A952E-4897-C539-56E6-785E4AD2FEAC}"/>
              </a:ext>
            </a:extLst>
          </p:cNvPr>
          <p:cNvSpPr txBox="1"/>
          <p:nvPr/>
        </p:nvSpPr>
        <p:spPr>
          <a:xfrm>
            <a:off x="3289594" y="1665834"/>
            <a:ext cx="57557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What should I cover?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FADE3-7096-9141-E2BB-2A27E1101B09}"/>
              </a:ext>
            </a:extLst>
          </p:cNvPr>
          <p:cNvSpPr txBox="1"/>
          <p:nvPr/>
        </p:nvSpPr>
        <p:spPr>
          <a:xfrm>
            <a:off x="1103858" y="2250609"/>
            <a:ext cx="8395742" cy="446686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1</a:t>
            </a:r>
            <a:r>
              <a:rPr lang="en-US" sz="2400" baseline="30000" dirty="0">
                <a:solidFill>
                  <a:srgbClr val="132F42"/>
                </a:solidFill>
                <a:latin typeface="Arial Black" panose="020B0A04020102020204" pitchFamily="34" charset="0"/>
              </a:rPr>
              <a:t>st</a:t>
            </a: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 Payment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Servicing Transfers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Escrows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Future recast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Tax Exemptions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Junk Mail &amp; Refinance Solicitation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Refinancing in the Future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Percy/</a:t>
            </a:r>
            <a:r>
              <a:rPr lang="en-US" sz="2400" dirty="0" err="1">
                <a:solidFill>
                  <a:srgbClr val="132F42"/>
                </a:solidFill>
                <a:latin typeface="Arial Black" panose="020B0A04020102020204" pitchFamily="34" charset="0"/>
              </a:rPr>
              <a:t>HomeBot</a:t>
            </a: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Financial Advisor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Feedback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Online Testimonial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Referral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AMC Sales Anchor</a:t>
            </a:r>
          </a:p>
        </p:txBody>
      </p:sp>
    </p:spTree>
    <p:extLst>
      <p:ext uri="{BB962C8B-B14F-4D97-AF65-F5344CB8AC3E}">
        <p14:creationId xmlns:p14="http://schemas.microsoft.com/office/powerpoint/2010/main" val="2805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8728D-9997-94FB-9D67-318DFA6D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AA54DC13-7D57-32CE-E0C9-163FB35F1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73DE0-A379-9787-BD80-CC7A50876AD1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1B72C-201B-1FE7-C9D2-ABDE0F7003F8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732CB-8D94-FFB9-2518-A06CDF4164E8}"/>
              </a:ext>
            </a:extLst>
          </p:cNvPr>
          <p:cNvSpPr txBox="1"/>
          <p:nvPr/>
        </p:nvSpPr>
        <p:spPr>
          <a:xfrm>
            <a:off x="807720" y="2354560"/>
            <a:ext cx="113842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Initial Starter Pleasantries and Questions:</a:t>
            </a:r>
          </a:p>
          <a:p>
            <a:r>
              <a:rPr lang="en-US" sz="2000" dirty="0"/>
              <a:t>Start every call enthusiastically.</a:t>
            </a:r>
          </a:p>
          <a:p>
            <a:endParaRPr lang="en-US" sz="2000" dirty="0"/>
          </a:p>
          <a:p>
            <a:r>
              <a:rPr lang="en-US" sz="2000" b="1" dirty="0"/>
              <a:t>Remember, most people are excited and still nervous about their new loan.</a:t>
            </a:r>
          </a:p>
          <a:p>
            <a:r>
              <a:rPr lang="en-US" sz="2000" i="1" dirty="0"/>
              <a:t>"Hi [name]! It's [your name]! Am I catching you at the right time? Do you have just 2-3</a:t>
            </a:r>
          </a:p>
          <a:p>
            <a:r>
              <a:rPr lang="en-US" sz="2000" i="1" dirty="0"/>
              <a:t>minutes tops, please?</a:t>
            </a:r>
          </a:p>
          <a:p>
            <a:endParaRPr lang="en-US" sz="2000" i="1" dirty="0"/>
          </a:p>
          <a:p>
            <a:r>
              <a:rPr lang="en-US" sz="2000" dirty="0"/>
              <a:t>[pause, listen]</a:t>
            </a:r>
          </a:p>
          <a:p>
            <a:endParaRPr lang="en-US" sz="2000" dirty="0"/>
          </a:p>
          <a:p>
            <a:r>
              <a:rPr lang="en-US" sz="2000" i="1" dirty="0"/>
              <a:t>'Thank you [name], well, I'm calling to first off congratulate you on the [new home/</a:t>
            </a:r>
          </a:p>
          <a:p>
            <a:r>
              <a:rPr lang="en-US" sz="2000" i="1" dirty="0"/>
              <a:t>new home loan] and secondly to thank you, sincerely, for trusting us with your</a:t>
            </a:r>
          </a:p>
          <a:p>
            <a:r>
              <a:rPr lang="en-US" sz="2000" i="1" dirty="0"/>
              <a:t>mortgage; it means the world to us.</a:t>
            </a:r>
          </a:p>
          <a:p>
            <a:endParaRPr lang="en-US" sz="2000" i="1" dirty="0"/>
          </a:p>
          <a:p>
            <a:r>
              <a:rPr lang="en-US" sz="2000" dirty="0"/>
              <a:t>[pause, listen]</a:t>
            </a:r>
            <a:endParaRPr lang="en-US" sz="320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95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F5E4-6A68-CCA2-F19A-59D2A2FF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CB399D99-1738-F9F5-FE6F-2E7C75CA0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F097C-2BEE-913D-BF68-A6D88E005408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73E42-8167-8E94-3C57-EE577C6289D6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A64C5-6501-AD19-5DD4-FE77C0A001BF}"/>
              </a:ext>
            </a:extLst>
          </p:cNvPr>
          <p:cNvSpPr txBox="1"/>
          <p:nvPr/>
        </p:nvSpPr>
        <p:spPr>
          <a:xfrm>
            <a:off x="807720" y="2829481"/>
            <a:ext cx="11384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Permission Based Educating:</a:t>
            </a:r>
          </a:p>
          <a:p>
            <a:endParaRPr lang="en-US" sz="2000" b="1" dirty="0"/>
          </a:p>
          <a:p>
            <a:r>
              <a:rPr lang="en-US" sz="2000" i="1" dirty="0"/>
              <a:t>"Well, now that you've officially closed on your home [property], I want to educated</a:t>
            </a:r>
          </a:p>
          <a:p>
            <a:r>
              <a:rPr lang="en-US" sz="2000" i="1" dirty="0"/>
              <a:t>you on a few more important things. Would you mind if I shared a few of them with</a:t>
            </a:r>
          </a:p>
          <a:p>
            <a:r>
              <a:rPr lang="en-US" sz="2000" i="1" dirty="0"/>
              <a:t>you?“</a:t>
            </a:r>
          </a:p>
          <a:p>
            <a:endParaRPr lang="en-US" sz="2000" i="1" dirty="0"/>
          </a:p>
          <a:p>
            <a:r>
              <a:rPr lang="en-US" sz="2000" dirty="0"/>
              <a:t>[pause, listen]</a:t>
            </a:r>
          </a:p>
          <a:p>
            <a:endParaRPr lang="en-US" sz="2000" dirty="0"/>
          </a:p>
          <a:p>
            <a:r>
              <a:rPr lang="en-US" sz="2000" i="1" dirty="0"/>
              <a:t>"Excellent! Thank you!"</a:t>
            </a:r>
            <a:endParaRPr lang="en-US" sz="320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97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747D-B837-22B0-B458-883A16EF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70D27B86-8DB2-627C-5C70-11E00BEB5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E0BA75-1BB5-D28D-33CC-32F184BA7844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E8AAB-1CFC-E3D7-BA68-66475A509AE1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B7DA8-0D77-F74A-427D-C9AB701C9537}"/>
              </a:ext>
            </a:extLst>
          </p:cNvPr>
          <p:cNvSpPr txBox="1"/>
          <p:nvPr/>
        </p:nvSpPr>
        <p:spPr>
          <a:xfrm>
            <a:off x="807720" y="2829481"/>
            <a:ext cx="109377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Educating:</a:t>
            </a:r>
          </a:p>
          <a:p>
            <a:endParaRPr lang="en-US" sz="2000" b="1" dirty="0"/>
          </a:p>
          <a:p>
            <a:r>
              <a:rPr lang="en-US" sz="2000" b="1" dirty="0"/>
              <a:t>1st Payment &amp; Escrows:</a:t>
            </a:r>
          </a:p>
          <a:p>
            <a:endParaRPr lang="en-US" sz="2000" b="1" dirty="0"/>
          </a:p>
          <a:p>
            <a:r>
              <a:rPr lang="en-US" sz="2000" i="1" dirty="0"/>
              <a:t>"Do you have any questions at all regarding your first payment and how taxes and</a:t>
            </a:r>
          </a:p>
          <a:p>
            <a:r>
              <a:rPr lang="en-US" sz="2000" i="1" dirty="0"/>
              <a:t>home insurance are escrowed? [if the latter is applicable]</a:t>
            </a:r>
          </a:p>
          <a:p>
            <a:endParaRPr lang="en-US" sz="2000" i="1" dirty="0"/>
          </a:p>
          <a:p>
            <a:r>
              <a:rPr lang="en-US" sz="2000" i="1" dirty="0"/>
              <a:t>Well, remember, since your property taxes and home insurance are included in your</a:t>
            </a:r>
          </a:p>
          <a:p>
            <a:r>
              <a:rPr lang="en-US" sz="2000" i="1" dirty="0"/>
              <a:t>monthly mortgage payment, you will still receive a bill potentially from your respective</a:t>
            </a:r>
          </a:p>
          <a:p>
            <a:r>
              <a:rPr lang="en-US" sz="2000" i="1" dirty="0"/>
              <a:t>county and home insurance agent, so do NOT double pay, and when in doubt, please</a:t>
            </a:r>
          </a:p>
          <a:p>
            <a:r>
              <a:rPr lang="en-US" sz="2000" i="1" dirty="0"/>
              <a:t>feel free to call us."</a:t>
            </a:r>
            <a:endParaRPr lang="en-US" sz="320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7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67BE-A9EC-2AE3-9FDB-1F317BE1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7EE7F99A-57AA-5978-8D85-A06C0DB21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470227-B3F2-8430-CAE1-61A93011851A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0045E-9B48-20A6-162D-F43C859A7269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16366-70E5-9785-C18D-4F6C189EA79F}"/>
              </a:ext>
            </a:extLst>
          </p:cNvPr>
          <p:cNvSpPr txBox="1"/>
          <p:nvPr/>
        </p:nvSpPr>
        <p:spPr>
          <a:xfrm>
            <a:off x="1325170" y="2795835"/>
            <a:ext cx="94208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Property Tax Exemptions:</a:t>
            </a:r>
          </a:p>
          <a:p>
            <a:endParaRPr lang="en-US" sz="2000" b="1" dirty="0"/>
          </a:p>
          <a:p>
            <a:r>
              <a:rPr lang="en-US" sz="2000" i="1" dirty="0"/>
              <a:t>''Additionally, almost every major County provides some sort of homeowner's tax</a:t>
            </a:r>
          </a:p>
          <a:p>
            <a:r>
              <a:rPr lang="en-US" sz="2000" i="1" dirty="0"/>
              <a:t>exemptions, especially for owner-occupied homeowners, so please search your County's</a:t>
            </a:r>
          </a:p>
          <a:p>
            <a:r>
              <a:rPr lang="en-US" sz="2000" i="1" dirty="0"/>
              <a:t>Property Tax Exemption options online when you have a chance; it can help you save</a:t>
            </a:r>
          </a:p>
          <a:p>
            <a:r>
              <a:rPr lang="en-US" sz="2000" i="1" dirty="0"/>
              <a:t>some money every year on your property taxes.“</a:t>
            </a:r>
          </a:p>
          <a:p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23505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04C7E-7A55-37ED-B2B1-9E52B1D1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062E5894-0842-39D4-F541-896D08A8D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6A417-3FA9-4811-41F6-39C4A9D7032C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11412-D8F5-6B5E-999F-4461CBD24CEE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FD0D7-1F28-C210-15B6-DAA290AF26BB}"/>
              </a:ext>
            </a:extLst>
          </p:cNvPr>
          <p:cNvSpPr txBox="1"/>
          <p:nvPr/>
        </p:nvSpPr>
        <p:spPr>
          <a:xfrm>
            <a:off x="1353524" y="2583183"/>
            <a:ext cx="978939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i="1" dirty="0"/>
          </a:p>
          <a:p>
            <a:r>
              <a:rPr lang="en-US" sz="2000" b="1" dirty="0"/>
              <a:t>Junk Mail &amp; Refinance Solicitations:</a:t>
            </a:r>
          </a:p>
          <a:p>
            <a:endParaRPr lang="en-US" sz="2000" b="1" dirty="0"/>
          </a:p>
          <a:p>
            <a:r>
              <a:rPr lang="en-US" sz="2000" i="1" dirty="0"/>
              <a:t>"Next up, now that you are a homeowner, prepare yourself because you will, unfortunately,</a:t>
            </a:r>
          </a:p>
          <a:p>
            <a:r>
              <a:rPr lang="en-US" sz="2000" i="1" dirty="0"/>
              <a:t>start to receive a lot of junk mail, especially from other lenders trying to convince you to</a:t>
            </a:r>
          </a:p>
          <a:p>
            <a:r>
              <a:rPr lang="en-US" sz="2000" i="1" dirty="0"/>
              <a:t>refinance. Make sure to shred that type of mail, and when in doubt, just contact us and</a:t>
            </a:r>
          </a:p>
          <a:p>
            <a:r>
              <a:rPr lang="en-US" sz="2000" i="1" dirty="0"/>
              <a:t>we can help determine what is legit or not.“</a:t>
            </a:r>
          </a:p>
          <a:p>
            <a:endParaRPr lang="en-US" sz="2000" i="1" dirty="0"/>
          </a:p>
          <a:p>
            <a:r>
              <a:rPr lang="en-US" sz="2000" i="1" dirty="0"/>
              <a:t>"So far, so good?“</a:t>
            </a:r>
          </a:p>
          <a:p>
            <a:endParaRPr lang="en-US" sz="2000" i="1" dirty="0"/>
          </a:p>
          <a:p>
            <a:r>
              <a:rPr lang="en-US" sz="2000" dirty="0"/>
              <a:t>[Pause, listen]</a:t>
            </a:r>
            <a:endParaRPr lang="en-US" sz="320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08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E6B2-D430-BDE0-2DD4-D7F6888D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F0442779-C6B2-22C2-ECAA-57C56FB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58677-3729-9181-6531-4F893D822D83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0DB3-5F3D-AFD4-F258-3DC5B111AB5D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F35B4-8452-DBDF-FAF2-7C9239D31CE8}"/>
              </a:ext>
            </a:extLst>
          </p:cNvPr>
          <p:cNvSpPr txBox="1"/>
          <p:nvPr/>
        </p:nvSpPr>
        <p:spPr>
          <a:xfrm>
            <a:off x="1204668" y="2870430"/>
            <a:ext cx="98923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Refinancing:</a:t>
            </a:r>
          </a:p>
          <a:p>
            <a:endParaRPr lang="en-US" sz="2000" b="1" dirty="0"/>
          </a:p>
          <a:p>
            <a:r>
              <a:rPr lang="en-US" sz="2000" i="1" dirty="0"/>
              <a:t>"Speaking of refinancing, my team and I constantly monitor interest rates, so if the right</a:t>
            </a:r>
          </a:p>
          <a:p>
            <a:r>
              <a:rPr lang="en-US" sz="2000" i="1" dirty="0"/>
              <a:t>opportunity presents itself, I will call you to discuss it. However, please call me proactively</a:t>
            </a:r>
          </a:p>
          <a:p>
            <a:r>
              <a:rPr lang="en-US" sz="2000" i="1" dirty="0"/>
              <a:t>if you are offered any refinancing options. I always have your best interest first and want</a:t>
            </a:r>
          </a:p>
          <a:p>
            <a:r>
              <a:rPr lang="en-US" sz="2000" i="1" dirty="0"/>
              <a:t>to make sure you never get into the wrong loan. Sounds good?“</a:t>
            </a:r>
          </a:p>
          <a:p>
            <a:endParaRPr lang="en-US" sz="2000" i="1" dirty="0"/>
          </a:p>
          <a:p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9780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8BE9-D5EA-925E-2999-68A39F30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4132ADC7-3290-F0C4-40E1-579B64AA7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43AA8A-47E0-239F-A6E2-6663B8B5A90B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C998E-569D-2FF6-4567-AE76BA376D60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755AA-F3DB-1C0D-3171-37BEE84D0F32}"/>
              </a:ext>
            </a:extLst>
          </p:cNvPr>
          <p:cNvSpPr txBox="1"/>
          <p:nvPr/>
        </p:nvSpPr>
        <p:spPr>
          <a:xfrm>
            <a:off x="1371423" y="2746216"/>
            <a:ext cx="94491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MyHomelQ</a:t>
            </a:r>
            <a:r>
              <a:rPr lang="en-US" sz="2000" b="1" dirty="0"/>
              <a:t> or </a:t>
            </a:r>
            <a:r>
              <a:rPr lang="en-US" sz="2000" b="1" dirty="0" err="1"/>
              <a:t>HomeBot</a:t>
            </a:r>
            <a:r>
              <a:rPr lang="en-US" sz="2000" b="1" dirty="0"/>
              <a:t>:</a:t>
            </a:r>
          </a:p>
          <a:p>
            <a:r>
              <a:rPr lang="en-US" sz="2000" i="1" dirty="0"/>
              <a:t>" ... thank you [name]. Also, I invested in an awesome tool that's complimentary to you</a:t>
            </a:r>
          </a:p>
          <a:p>
            <a:r>
              <a:rPr lang="en-US" sz="2000" i="1" dirty="0"/>
              <a:t>called </a:t>
            </a:r>
            <a:r>
              <a:rPr lang="en-US" sz="2000" i="1" dirty="0" err="1"/>
              <a:t>myHome</a:t>
            </a:r>
            <a:r>
              <a:rPr lang="en-US" sz="2000" i="1" dirty="0"/>
              <a:t> IQ. It's a monthly email report that is fully customized to your home and</a:t>
            </a:r>
          </a:p>
          <a:p>
            <a:r>
              <a:rPr lang="en-US" sz="2000" i="1" dirty="0"/>
              <a:t>mortgage.</a:t>
            </a:r>
          </a:p>
          <a:p>
            <a:endParaRPr lang="en-US" sz="2000" i="1" dirty="0"/>
          </a:p>
          <a:p>
            <a:r>
              <a:rPr lang="en-US" sz="2000" i="1" dirty="0"/>
              <a:t>You'll have a bunch of features on there with one giving you insight into your home value.</a:t>
            </a:r>
          </a:p>
          <a:p>
            <a:r>
              <a:rPr lang="en-US" sz="2000" i="1" dirty="0"/>
              <a:t>My other clients absolutely love it, and you should see your first report in 30 days or so!"</a:t>
            </a:r>
          </a:p>
        </p:txBody>
      </p:sp>
    </p:spTree>
    <p:extLst>
      <p:ext uri="{BB962C8B-B14F-4D97-AF65-F5344CB8AC3E}">
        <p14:creationId xmlns:p14="http://schemas.microsoft.com/office/powerpoint/2010/main" val="304777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2D01-2E79-F5FB-06EF-DD2BDB85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A60B1EEB-2715-FC16-552E-932E364AC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67368F-A633-9A17-495B-69F815843C77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9CE59-9202-EF6E-52F4-1E2767840C64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CBFB3-DDC4-BC7F-A0AF-ED4A11410DE8}"/>
              </a:ext>
            </a:extLst>
          </p:cNvPr>
          <p:cNvSpPr txBox="1"/>
          <p:nvPr/>
        </p:nvSpPr>
        <p:spPr>
          <a:xfrm>
            <a:off x="628024" y="2420151"/>
            <a:ext cx="105937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Feedback</a:t>
            </a:r>
          </a:p>
          <a:p>
            <a:r>
              <a:rPr lang="en-US" sz="2000" dirty="0"/>
              <a:t>." .. Well, as we wrap up, thank you again [name], for picking me as your Loan Officer; I</a:t>
            </a:r>
          </a:p>
          <a:p>
            <a:r>
              <a:rPr lang="en-US" sz="2000" dirty="0"/>
              <a:t>never take it for granted ... “</a:t>
            </a:r>
          </a:p>
          <a:p>
            <a:endParaRPr lang="en-US" sz="2000" dirty="0"/>
          </a:p>
          <a:p>
            <a:r>
              <a:rPr lang="en-US" sz="2000" dirty="0"/>
              <a:t>". ..thinking back, how do you feel we did for you overall?“</a:t>
            </a:r>
          </a:p>
          <a:p>
            <a:endParaRPr lang="en-US" sz="2000" dirty="0"/>
          </a:p>
          <a:p>
            <a:r>
              <a:rPr lang="en-US" sz="2000" dirty="0"/>
              <a:t>". .. I know there's no such thing as perfection, but we're always pursuing it. What was one</a:t>
            </a:r>
          </a:p>
          <a:p>
            <a:r>
              <a:rPr lang="en-US" sz="2000" dirty="0"/>
              <a:t>thing that we could have done better? Please be honest.“</a:t>
            </a:r>
          </a:p>
          <a:p>
            <a:endParaRPr lang="en-US" sz="2000" dirty="0"/>
          </a:p>
          <a:p>
            <a:r>
              <a:rPr lang="en-US" sz="2000" dirty="0"/>
              <a:t>[pause, listen, dig deeper if need be]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72335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12FB-FFBE-A660-60F5-E013A72A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47D49A04-281B-867B-44D0-A554441E5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49800-8E3A-F39A-651B-792A3FAC4E55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87A1C-0977-A5EE-9CAB-FC88D1142471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AA198-9008-A297-DC1D-74B1C849A5D8}"/>
              </a:ext>
            </a:extLst>
          </p:cNvPr>
          <p:cNvSpPr txBox="1"/>
          <p:nvPr/>
        </p:nvSpPr>
        <p:spPr>
          <a:xfrm>
            <a:off x="628024" y="2420151"/>
            <a:ext cx="1059374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Close</a:t>
            </a:r>
          </a:p>
          <a:p>
            <a:endParaRPr lang="en-US" b="1" dirty="0"/>
          </a:p>
          <a:p>
            <a:r>
              <a:rPr lang="en-US" i="1" dirty="0"/>
              <a:t>"Thank you for all that [name]; before we wrap, can I please ask you for two favors?</a:t>
            </a:r>
          </a:p>
          <a:p>
            <a:r>
              <a:rPr lang="en-US" i="1" dirty="0"/>
              <a:t>[pause, gain commitment]?“</a:t>
            </a:r>
          </a:p>
          <a:p>
            <a:endParaRPr lang="en-US" i="1" dirty="0"/>
          </a:p>
          <a:p>
            <a:pPr marL="342900" indent="-342900">
              <a:buAutoNum type="alphaLcParenBoth"/>
            </a:pPr>
            <a:r>
              <a:rPr lang="en-US" b="1" dirty="0"/>
              <a:t>Online Testimonial Request</a:t>
            </a:r>
          </a:p>
          <a:p>
            <a:pPr marL="342900" indent="-342900">
              <a:buAutoNum type="alphaLcParenBoth"/>
            </a:pPr>
            <a:endParaRPr lang="en-US" b="1" dirty="0"/>
          </a:p>
          <a:p>
            <a:r>
              <a:rPr lang="en-US" i="1" dirty="0"/>
              <a:t>If I send you a link to my Google reviews, would you be open to writing a quick on line</a:t>
            </a:r>
          </a:p>
          <a:p>
            <a:r>
              <a:rPr lang="en-US" i="1" dirty="0"/>
              <a:t>testimonial for us? It would mean the world to us.</a:t>
            </a:r>
          </a:p>
          <a:p>
            <a:endParaRPr lang="en-US" sz="2000" i="1" dirty="0"/>
          </a:p>
          <a:p>
            <a:r>
              <a:rPr lang="en-US" b="1" dirty="0"/>
              <a:t>(b) Referral</a:t>
            </a:r>
          </a:p>
          <a:p>
            <a:endParaRPr lang="en-US" b="1" dirty="0"/>
          </a:p>
          <a:p>
            <a:r>
              <a:rPr lang="en-US" i="1" dirty="0"/>
              <a:t>"Thank you, [name]! Secondly, when the topic of mortgages comes up with your coworkers</a:t>
            </a:r>
          </a:p>
          <a:p>
            <a:r>
              <a:rPr lang="en-US" i="1" dirty="0"/>
              <a:t>or friends, would you be open to saying you have a great mortgage guy [gal]?</a:t>
            </a:r>
          </a:p>
          <a:p>
            <a:r>
              <a:rPr lang="en-US" dirty="0"/>
              <a:t>[pause, listen]</a:t>
            </a:r>
          </a:p>
        </p:txBody>
      </p:sp>
    </p:spTree>
    <p:extLst>
      <p:ext uri="{BB962C8B-B14F-4D97-AF65-F5344CB8AC3E}">
        <p14:creationId xmlns:p14="http://schemas.microsoft.com/office/powerpoint/2010/main" val="255035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AF66-8A13-4117-AE90-C7096718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B89E0B31-5529-8FE5-7EBA-94409A77E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748EB-ECE9-79FA-D828-06084B50C418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9E8C8-75BB-A457-7932-2F12AFC91549}"/>
              </a:ext>
            </a:extLst>
          </p:cNvPr>
          <p:cNvSpPr txBox="1"/>
          <p:nvPr/>
        </p:nvSpPr>
        <p:spPr>
          <a:xfrm>
            <a:off x="978716" y="1679246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Framework and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6752D-AC2A-8C48-6A98-1D5288C0808D}"/>
              </a:ext>
            </a:extLst>
          </p:cNvPr>
          <p:cNvSpPr txBox="1"/>
          <p:nvPr/>
        </p:nvSpPr>
        <p:spPr>
          <a:xfrm>
            <a:off x="628024" y="2420151"/>
            <a:ext cx="105937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AMC Sales Anchor</a:t>
            </a:r>
          </a:p>
          <a:p>
            <a:endParaRPr lang="en-US" sz="2000" b="1" dirty="0"/>
          </a:p>
          <a:p>
            <a:r>
              <a:rPr lang="en-US" sz="2000" i="1" dirty="0"/>
              <a:t>"Thank you for taking the time [name], I hope all the quick education today was helpful</a:t>
            </a:r>
          </a:p>
          <a:p>
            <a:r>
              <a:rPr lang="en-US" sz="2000" i="1" dirty="0"/>
              <a:t>and this won't be the last time we connect.</a:t>
            </a:r>
          </a:p>
          <a:p>
            <a:endParaRPr lang="en-US" sz="2000" i="1" dirty="0"/>
          </a:p>
          <a:p>
            <a:r>
              <a:rPr lang="en-US" sz="2000" i="1" dirty="0"/>
              <a:t>I'd like to reach back out at least once a year around your home anniversary so we can</a:t>
            </a:r>
          </a:p>
          <a:p>
            <a:r>
              <a:rPr lang="en-US" sz="2000" i="1" dirty="0"/>
              <a:t>schedule a quick 15-30 30-minute Annual Mortgage Review call. Everyone loves those,</a:t>
            </a:r>
          </a:p>
          <a:p>
            <a:r>
              <a:rPr lang="en-US" sz="2000" i="1" dirty="0"/>
              <a:t>as they're basically like a mortgage efficiency check-up call where I help you ensure you</a:t>
            </a:r>
          </a:p>
          <a:p>
            <a:r>
              <a:rPr lang="en-US" sz="2000" i="1" dirty="0"/>
              <a:t>are maximizing your home loan.</a:t>
            </a:r>
          </a:p>
          <a:p>
            <a:endParaRPr lang="en-US" sz="2000" i="1" dirty="0"/>
          </a:p>
          <a:p>
            <a:r>
              <a:rPr lang="en-US" sz="2000" i="1" dirty="0"/>
              <a:t>Thank you again, [name]. Please do not hesitate to contact me if you need anything."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210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BDC2-305C-C53D-A1A8-C47134CB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40DD7816-B6E3-C29E-DB3C-A2A7580C4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2E9A3F-DEC2-2858-2D44-C553A1D2E831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7-Day Post-Closing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888-A63B-F605-1A0A-FFD1BAD6CFB3}"/>
              </a:ext>
            </a:extLst>
          </p:cNvPr>
          <p:cNvSpPr txBox="1"/>
          <p:nvPr/>
        </p:nvSpPr>
        <p:spPr>
          <a:xfrm>
            <a:off x="943274" y="1789185"/>
            <a:ext cx="9892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Recap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9CEA7-E826-386F-A6C7-00E97C7BB661}"/>
              </a:ext>
            </a:extLst>
          </p:cNvPr>
          <p:cNvSpPr txBox="1"/>
          <p:nvPr/>
        </p:nvSpPr>
        <p:spPr>
          <a:xfrm>
            <a:off x="807720" y="2624838"/>
            <a:ext cx="9824838" cy="390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Start every call enthusiastically.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Ask questions and then pause, LISTEN!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Use a checklist to make sure you touch on everything.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32F42"/>
                </a:solidFill>
                <a:latin typeface="Arial Black" panose="020B0A04020102020204" pitchFamily="34" charset="0"/>
              </a:rPr>
              <a:t>Drop that Sales Anchor!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02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9696-6A30-39F4-FB25-798AAD14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F5E2B45A-AE91-08B4-3BB2-1A2A965C9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B2E03-C5C1-5A4D-BFE3-455B4DBF5840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7-Day Birthdays &amp; Anniversaries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BD5BC-22EB-3C7A-7028-4D8892B24394}"/>
              </a:ext>
            </a:extLst>
          </p:cNvPr>
          <p:cNvSpPr txBox="1"/>
          <p:nvPr/>
        </p:nvSpPr>
        <p:spPr>
          <a:xfrm>
            <a:off x="1541632" y="2636874"/>
            <a:ext cx="9108735" cy="225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32F42"/>
                </a:solidFill>
                <a:latin typeface="Arial Black" panose="020B0A04020102020204" pitchFamily="34" charset="0"/>
              </a:rPr>
              <a:t>Once you have completed your 7-Day Post Closing calls, pivot into calling every client that has an upcoming home loan anniversary or a birthday within the next 7 days.</a:t>
            </a:r>
          </a:p>
        </p:txBody>
      </p:sp>
    </p:spTree>
    <p:extLst>
      <p:ext uri="{BB962C8B-B14F-4D97-AF65-F5344CB8AC3E}">
        <p14:creationId xmlns:p14="http://schemas.microsoft.com/office/powerpoint/2010/main" val="217862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75ED-2CA8-8EC0-985E-97C3863E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3339ED92-3A2E-3BA0-5FCE-AF547EA1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B3FED-89D6-373B-C82E-E875CE2E0334}"/>
              </a:ext>
            </a:extLst>
          </p:cNvPr>
          <p:cNvSpPr txBox="1"/>
          <p:nvPr/>
        </p:nvSpPr>
        <p:spPr>
          <a:xfrm>
            <a:off x="0" y="738521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The Real Benefits (Why This Call Changes Your Business)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49637-EA49-D663-D2B8-745EF607CC0E}"/>
              </a:ext>
            </a:extLst>
          </p:cNvPr>
          <p:cNvSpPr txBox="1"/>
          <p:nvPr/>
        </p:nvSpPr>
        <p:spPr>
          <a:xfrm>
            <a:off x="574159" y="2417909"/>
            <a:ext cx="9959162" cy="416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This can seem like a lot but remember this: the Lifetime Value (LTV) of a first-time homebuyer is 5x!</a:t>
            </a:r>
          </a:p>
          <a:p>
            <a:pPr algn="l"/>
            <a:endParaRPr lang="en-US" sz="1050" b="0" i="0" u="none" strike="noStrike" baseline="0" dirty="0">
              <a:solidFill>
                <a:srgbClr val="132F42"/>
              </a:solidFill>
              <a:latin typeface="Arial Black" panose="020B0A040201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1. First home</a:t>
            </a:r>
          </a:p>
          <a:p>
            <a:pPr lvl="1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2. Refinance</a:t>
            </a:r>
          </a:p>
          <a:p>
            <a:pPr lvl="1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3. Move up home</a:t>
            </a:r>
          </a:p>
          <a:p>
            <a:pPr lvl="1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4. Refinance</a:t>
            </a:r>
          </a:p>
          <a:p>
            <a:pPr lvl="1"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5. Refinance</a:t>
            </a:r>
          </a:p>
          <a:p>
            <a:pPr algn="l"/>
            <a:endParaRPr lang="en-US" sz="1100" b="0" i="0" u="none" strike="noStrike" baseline="0" dirty="0">
              <a:solidFill>
                <a:srgbClr val="132F42"/>
              </a:solidFill>
              <a:latin typeface="Arial Black" panose="020B0A04020102020204" pitchFamily="34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132F42"/>
                </a:solidFill>
                <a:latin typeface="Arial Black" panose="020B0A04020102020204" pitchFamily="34" charset="0"/>
              </a:rPr>
              <a:t>If each transaction is worth $4k to you, that’s $20k</a:t>
            </a:r>
            <a:r>
              <a:rPr lang="en-US" sz="2000" dirty="0">
                <a:solidFill>
                  <a:srgbClr val="132F42"/>
                </a:solidFill>
                <a:latin typeface="Arial Black" panose="020B0A04020102020204" pitchFamily="34" charset="0"/>
              </a:rPr>
              <a:t>…and that’s       not counting referrals. </a:t>
            </a:r>
            <a:endParaRPr lang="en-US" sz="2000" b="0" i="0" u="none" strike="noStrike" baseline="0" dirty="0">
              <a:solidFill>
                <a:srgbClr val="132F4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1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1E84-9C7A-7D1C-E7C0-9C4A22CE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70312756-1051-D831-6108-011F22D3F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F40997-DE17-C4E4-46B0-DEAB463EA81B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Commitment From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FD79C-D0ED-580A-D65D-F440F53F10D9}"/>
              </a:ext>
            </a:extLst>
          </p:cNvPr>
          <p:cNvSpPr txBox="1"/>
          <p:nvPr/>
        </p:nvSpPr>
        <p:spPr>
          <a:xfrm>
            <a:off x="1671509" y="2424305"/>
            <a:ext cx="9046110" cy="2228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✓</a:t>
            </a:r>
            <a:r>
              <a:rPr lang="en-US" sz="3200" dirty="0">
                <a:solidFill>
                  <a:srgbClr val="132F42"/>
                </a:solidFill>
                <a:latin typeface="Arial Black" panose="020B0A04020102020204" pitchFamily="34" charset="0"/>
              </a:rPr>
              <a:t> </a:t>
            </a:r>
            <a:r>
              <a:rPr lang="en-US" sz="3200" u="sng" dirty="0">
                <a:solidFill>
                  <a:srgbClr val="132F42"/>
                </a:solidFill>
                <a:latin typeface="Arial Black" panose="020B0A04020102020204" pitchFamily="34" charset="0"/>
              </a:rPr>
              <a:t>Block</a:t>
            </a:r>
            <a:r>
              <a:rPr lang="en-US" sz="3200" dirty="0">
                <a:solidFill>
                  <a:srgbClr val="132F42"/>
                </a:solidFill>
                <a:latin typeface="Arial Black" panose="020B0A04020102020204" pitchFamily="34" charset="0"/>
              </a:rPr>
              <a:t> first Thursday Power Hour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✓</a:t>
            </a:r>
            <a:r>
              <a:rPr lang="en-US" sz="3200" dirty="0">
                <a:solidFill>
                  <a:srgbClr val="132F42"/>
                </a:solidFill>
                <a:latin typeface="Arial Black" panose="020B0A04020102020204" pitchFamily="34" charset="0"/>
              </a:rPr>
              <a:t> Make first 7-day calls next Thursday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13AF8A"/>
                </a:solidFill>
                <a:latin typeface="Arial Black" panose="020B0A04020102020204" pitchFamily="34" charset="0"/>
              </a:rPr>
              <a:t>✓</a:t>
            </a:r>
            <a:r>
              <a:rPr lang="en-US" sz="3200" dirty="0">
                <a:solidFill>
                  <a:srgbClr val="132F42"/>
                </a:solidFill>
                <a:latin typeface="Arial Black" panose="020B0A04020102020204" pitchFamily="34" charset="0"/>
              </a:rPr>
              <a:t> Report back on how it went</a:t>
            </a:r>
          </a:p>
        </p:txBody>
      </p:sp>
    </p:spTree>
    <p:extLst>
      <p:ext uri="{BB962C8B-B14F-4D97-AF65-F5344CB8AC3E}">
        <p14:creationId xmlns:p14="http://schemas.microsoft.com/office/powerpoint/2010/main" val="88938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2D7F-DEFD-376A-7038-D5A60AC3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corner&#10;&#10;AI-generated content may be incorrect.">
            <a:extLst>
              <a:ext uri="{FF2B5EF4-FFF2-40B4-BE49-F238E27FC236}">
                <a16:creationId xmlns:a16="http://schemas.microsoft.com/office/drawing/2014/main" id="{EBEA2347-126C-7D16-2633-BAC47F0FB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714E4-EE32-950E-4EB2-E2E94AA0C5E4}"/>
              </a:ext>
            </a:extLst>
          </p:cNvPr>
          <p:cNvSpPr txBox="1"/>
          <p:nvPr/>
        </p:nvSpPr>
        <p:spPr>
          <a:xfrm>
            <a:off x="0" y="8482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38E3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F2FFC0-EC00-EA0E-2227-0452FC57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02" y="1679246"/>
            <a:ext cx="4572396" cy="461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C40035799A41B78ED5E152533C30" ma:contentTypeVersion="14" ma:contentTypeDescription="Create a new document." ma:contentTypeScope="" ma:versionID="77586bbeb5741cb64244f10c4f77d62b">
  <xsd:schema xmlns:xsd="http://www.w3.org/2001/XMLSchema" xmlns:xs="http://www.w3.org/2001/XMLSchema" xmlns:p="http://schemas.microsoft.com/office/2006/metadata/properties" xmlns:ns3="ec479758-371c-46b1-857d-17dee0650313" xmlns:ns4="a5d53311-b2d5-48d1-88d1-430040b9ca2a" targetNamespace="http://schemas.microsoft.com/office/2006/metadata/properties" ma:root="true" ma:fieldsID="df2682fac5af9c0b9c4cc0b12c81c44c" ns3:_="" ns4:_="">
    <xsd:import namespace="ec479758-371c-46b1-857d-17dee0650313"/>
    <xsd:import namespace="a5d53311-b2d5-48d1-88d1-430040b9ca2a"/>
    <xsd:element name="properties">
      <xsd:complexType>
        <xsd:sequence>
          <xsd:element name="documentManagement">
            <xsd:complexType>
              <xsd:all>
                <xsd:element ref="ns3:SharedWithDetails" minOccurs="0"/>
                <xsd:element ref="ns3:SharedWithUser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479758-371c-46b1-857d-17dee0650313" elementFormDefault="qualified">
    <xsd:import namespace="http://schemas.microsoft.com/office/2006/documentManagement/types"/>
    <xsd:import namespace="http://schemas.microsoft.com/office/infopath/2007/PartnerControls"/>
    <xsd:element name="SharedWithDetails" ma:index="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53311-b2d5-48d1-88d1-430040b9ca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5d53311-b2d5-48d1-88d1-430040b9ca2a" xsi:nil="true"/>
  </documentManagement>
</p:properties>
</file>

<file path=customXml/itemProps1.xml><?xml version="1.0" encoding="utf-8"?>
<ds:datastoreItem xmlns:ds="http://schemas.openxmlformats.org/officeDocument/2006/customXml" ds:itemID="{7589813F-C8E5-4228-BA1C-3289295B71A7}">
  <ds:schemaRefs>
    <ds:schemaRef ds:uri="a5d53311-b2d5-48d1-88d1-430040b9ca2a"/>
    <ds:schemaRef ds:uri="ec479758-371c-46b1-857d-17dee06503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32431B6-0305-475C-989F-A4B9153326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76F73-1C5E-4D36-9867-327BD08857B7}">
  <ds:schemaRefs>
    <ds:schemaRef ds:uri="a5d53311-b2d5-48d1-88d1-430040b9ca2a"/>
    <ds:schemaRef ds:uri="ec479758-371c-46b1-857d-17dee065031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1658</Words>
  <Application>Microsoft Office PowerPoint</Application>
  <PresentationFormat>Widescreen</PresentationFormat>
  <Paragraphs>233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Arial Black</vt:lpstr>
      <vt:lpstr>Brush Script MT</vt:lpstr>
      <vt:lpstr>Calibri</vt:lpstr>
      <vt:lpstr>Calibri Light</vt:lpstr>
      <vt:lpstr>Office Theme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Korte</dc:creator>
  <cp:lastModifiedBy>Adam Garman</cp:lastModifiedBy>
  <cp:revision>5</cp:revision>
  <cp:lastPrinted>2023-09-29T13:32:46Z</cp:lastPrinted>
  <dcterms:created xsi:type="dcterms:W3CDTF">2020-03-17T15:13:12Z</dcterms:created>
  <dcterms:modified xsi:type="dcterms:W3CDTF">2026-02-12T15:49:22Z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0x010100F903C40035799A41B78ED5E152533C30</vt:lpwstr>
  </property>
</Properties>
</file>